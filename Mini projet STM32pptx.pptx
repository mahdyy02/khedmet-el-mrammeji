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7102475" cy="102330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736" y="0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9700" y="766763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997" y="4860687"/>
            <a:ext cx="5208482" cy="4604861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374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736" y="9721374"/>
            <a:ext cx="3077739" cy="511651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946997" y="4860687"/>
            <a:ext cx="5208482" cy="4604861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139700" y="766763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46997" y="4860687"/>
            <a:ext cx="5208482" cy="4604861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39700" y="766763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232e3efbf_0_8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2232e3efbf_0_8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232e3efbf_0_45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2232e3efbf_0_45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232e3efbf_0_57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2232e3efbf_0_57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2232e3efbf_0_57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232e3efbf_1_7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232e3efbf_1_7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2232e3efbf_1_7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232e3efbf_1_14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232e3efbf_1_14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2232e3efbf_1_14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232e3efbf_1_22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232e3efbf_1_22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2232e3efbf_1_22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32e3efbf_1_29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232e3efbf_1_29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2232e3efbf_1_29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2232e3efbf_0_30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2232e3efbf_0_30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2232e3efbf_0_30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2232e3efbf_0_36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2232e3efbf_0_36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2232e3efbf_0_36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232e3efbf_0_71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232e3efbf_0_71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2232e3efbf_0_71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2232e3efbf_1_37:notes"/>
          <p:cNvSpPr/>
          <p:nvPr>
            <p:ph idx="2" type="sldImg"/>
          </p:nvPr>
        </p:nvSpPr>
        <p:spPr>
          <a:xfrm>
            <a:off x="139700" y="766763"/>
            <a:ext cx="68232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2232e3efbf_1_37:notes"/>
          <p:cNvSpPr txBox="1"/>
          <p:nvPr>
            <p:ph idx="1" type="body"/>
          </p:nvPr>
        </p:nvSpPr>
        <p:spPr>
          <a:xfrm>
            <a:off x="946997" y="4860687"/>
            <a:ext cx="5208600" cy="46050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2232e3efbf_1_37:notes"/>
          <p:cNvSpPr txBox="1"/>
          <p:nvPr>
            <p:ph idx="12" type="sldNum"/>
          </p:nvPr>
        </p:nvSpPr>
        <p:spPr>
          <a:xfrm>
            <a:off x="4024736" y="9721374"/>
            <a:ext cx="3077700" cy="511800"/>
          </a:xfrm>
          <a:prstGeom prst="rect">
            <a:avLst/>
          </a:prstGeom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448656" y="179343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5667" y="1143000"/>
            <a:ext cx="11074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3"/>
          <p:cNvCxnSpPr/>
          <p:nvPr/>
        </p:nvCxnSpPr>
        <p:spPr>
          <a:xfrm>
            <a:off x="1" y="2863850"/>
            <a:ext cx="11832167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" name="Google Shape;21;p3"/>
          <p:cNvSpPr txBox="1"/>
          <p:nvPr>
            <p:ph type="ctrTitle"/>
          </p:nvPr>
        </p:nvSpPr>
        <p:spPr>
          <a:xfrm>
            <a:off x="474133" y="20574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474133" y="3162300"/>
            <a:ext cx="109728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400"/>
              <a:buFont typeface="Noto Sans Symbols"/>
              <a:buNone/>
              <a:defRPr b="1"/>
            </a:lvl1pPr>
            <a:lvl2pPr lvl="1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65667" y="1143000"/>
            <a:ext cx="5435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6104467" y="1143000"/>
            <a:ext cx="5435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34" name="Google Shape;34;p6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/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Cliquez pour modifier le style du titre</a:t>
            </a:r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766733" y="1092169"/>
            <a:ext cx="6815667" cy="5033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▪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7341" y="1128682"/>
            <a:ext cx="4011084" cy="3865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/>
          <p:nvPr>
            <p:ph idx="2" type="pic"/>
          </p:nvPr>
        </p:nvSpPr>
        <p:spPr>
          <a:xfrm>
            <a:off x="2347332" y="1128681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>
  <p:cSld name="Titre et texte vertical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 rot="5400000">
            <a:off x="3526367" y="-1917700"/>
            <a:ext cx="4953000" cy="110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2"/>
          <p:cNvSpPr txBox="1"/>
          <p:nvPr>
            <p:ph type="title"/>
          </p:nvPr>
        </p:nvSpPr>
        <p:spPr>
          <a:xfrm rot="5400000">
            <a:off x="7653851" y="2209784"/>
            <a:ext cx="5003832" cy="27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 rot="5400000">
            <a:off x="2069821" y="-402446"/>
            <a:ext cx="4894293" cy="81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. Texte et contenu">
  <p:cSld name="Titre. Texte et contenu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80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800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65667" y="1143000"/>
            <a:ext cx="5435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6104467" y="1143000"/>
            <a:ext cx="5435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65667" y="1524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65667" y="1143000"/>
            <a:ext cx="11074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1"/>
          <p:cNvCxnSpPr/>
          <p:nvPr/>
        </p:nvCxnSpPr>
        <p:spPr>
          <a:xfrm>
            <a:off x="143934" y="982663"/>
            <a:ext cx="11838517" cy="0"/>
          </a:xfrm>
          <a:prstGeom prst="straightConnector1">
            <a:avLst/>
          </a:prstGeom>
          <a:noFill/>
          <a:ln cap="flat" cmpd="sng" w="635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1"/>
          <p:cNvCxnSpPr/>
          <p:nvPr/>
        </p:nvCxnSpPr>
        <p:spPr>
          <a:xfrm>
            <a:off x="143934" y="900113"/>
            <a:ext cx="11838517" cy="0"/>
          </a:xfrm>
          <a:prstGeom prst="straightConnector1">
            <a:avLst/>
          </a:prstGeom>
          <a:noFill/>
          <a:ln cap="flat" cmpd="sng" w="3175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" name="Google Shape;14;p1"/>
          <p:cNvSpPr txBox="1"/>
          <p:nvPr/>
        </p:nvSpPr>
        <p:spPr>
          <a:xfrm>
            <a:off x="10991851" y="6443663"/>
            <a:ext cx="1037167" cy="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Mahdyy02/khedmet-el-mrammeji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695400" y="1398629"/>
            <a:ext cx="104412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 strike="noStrik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STM32 Home Work project</a:t>
            </a:r>
            <a:endParaRPr b="1" sz="4000">
              <a:solidFill>
                <a:srgbClr val="0033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53125" y="2590875"/>
            <a:ext cx="7925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4600">
                <a:solidFill>
                  <a:srgbClr val="C00000"/>
                </a:solidFill>
              </a:rPr>
              <a:t>Using Timers to Generate PWM Signals</a:t>
            </a:r>
            <a:endParaRPr b="1" sz="4600">
              <a:solidFill>
                <a:srgbClr val="C00000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832238" y="4503419"/>
            <a:ext cx="60984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By :</a:t>
            </a:r>
            <a:endParaRPr sz="1600">
              <a:solidFill>
                <a:srgbClr val="38761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lang="en-US" sz="26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1) </a:t>
            </a:r>
            <a:r>
              <a:rPr b="1" lang="en-US" sz="2600">
                <a:solidFill>
                  <a:srgbClr val="38761D"/>
                </a:solidFill>
              </a:rPr>
              <a:t>Mohamed Mahdi</a:t>
            </a:r>
            <a:endParaRPr sz="1600">
              <a:solidFill>
                <a:srgbClr val="38761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8761D"/>
                </a:solidFill>
              </a:rPr>
              <a:t>	2) Mehdi Rejeb Kaâbia</a:t>
            </a:r>
            <a:endParaRPr b="1" sz="2600">
              <a:solidFill>
                <a:srgbClr val="38761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8761D"/>
                </a:solidFill>
              </a:rPr>
              <a:t>	3) Mohamed Safraou</a:t>
            </a:r>
            <a:endParaRPr b="1" sz="2600">
              <a:solidFill>
                <a:srgbClr val="38761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6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8863969" y="5874157"/>
            <a:ext cx="374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343D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r>
              <a:rPr b="1" lang="en-US" sz="2400">
                <a:solidFill>
                  <a:srgbClr val="0C343D"/>
                </a:solidFill>
              </a:rPr>
              <a:t>TEL 1</a:t>
            </a:r>
            <a:endParaRPr>
              <a:solidFill>
                <a:srgbClr val="0C343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48649" y="179350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/>
              <a:t>Gesture-Controlled LED Brightness Using PWM and STM32</a:t>
            </a:r>
            <a:endParaRPr sz="30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276425" y="2082450"/>
            <a:ext cx="119157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Georgia"/>
              <a:buChar char="▪"/>
            </a:pPr>
            <a:r>
              <a:rPr lang="en-US" sz="2700"/>
              <a:t>The system allows users to control the LED brightness via hand gestures or a web interface, combining embedded systems, computer vision, and web development for an interactive solution.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448649" y="1217000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solidFill>
                  <a:srgbClr val="C00000"/>
                </a:solidFill>
              </a:rPr>
              <a:t>Project Description:  </a:t>
            </a:r>
            <a:endParaRPr sz="3000">
              <a:solidFill>
                <a:srgbClr val="C00000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46755" r="-6186" t="0"/>
          <a:stretch/>
        </p:blipFill>
        <p:spPr>
          <a:xfrm>
            <a:off x="2415650" y="3881040"/>
            <a:ext cx="2557251" cy="2307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0500" y="3673025"/>
            <a:ext cx="2776991" cy="28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48649" y="179350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/>
              <a:t>Gesture-Controlled LED Brightness Using PWM and STM32</a:t>
            </a:r>
            <a:endParaRPr sz="30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245175" y="2181800"/>
            <a:ext cx="7007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▪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Use the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STM32 Nucleo F466RE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board to generate a PWM signal for adjusting LED brightness.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▪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Build a web interface with a slider ranging from 0 to 100, mapped to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PWM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values from 1 to 255.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Georgia"/>
              <a:buChar char="▪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Integrate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Media Pipe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for hand gesture control, enabling the slider to be adjusted based on the distance between two fingers.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368849" y="1180575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C00000"/>
                </a:solidFill>
              </a:rPr>
              <a:t>Project Objectives:</a:t>
            </a:r>
            <a:endParaRPr sz="3000">
              <a:solidFill>
                <a:srgbClr val="C00000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575" y="1274525"/>
            <a:ext cx="4939425" cy="53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48649" y="179350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/>
              <a:t>Gesture-Controlled LED Brightness Using PWM and STM32</a:t>
            </a:r>
            <a:endParaRPr sz="3000"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79800" y="2051300"/>
            <a:ext cx="12192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Definition</a:t>
            </a:r>
            <a:r>
              <a:rPr lang="en-US" sz="1800"/>
              <a:t>:</a:t>
            </a:r>
            <a:br>
              <a:rPr lang="en-US" sz="1800"/>
            </a:br>
            <a:r>
              <a:rPr lang="en-US" sz="1800"/>
              <a:t>The duty cycle in Pulse Width Modulation (PWM) refers to the percentage of time the signal is "</a:t>
            </a:r>
            <a:r>
              <a:rPr b="1" lang="en-US" sz="1800"/>
              <a:t>high</a:t>
            </a:r>
            <a:r>
              <a:rPr lang="en-US" sz="1800"/>
              <a:t>" (on) within one period of the PWM signal.</a:t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Mathematical Formula</a:t>
            </a:r>
            <a:r>
              <a:rPr lang="en-US" sz="1800"/>
              <a:t>:</a:t>
            </a:r>
            <a:br>
              <a:rPr lang="en-US" sz="1800"/>
            </a:br>
            <a:br>
              <a:rPr lang="en-US" sz="1800"/>
            </a:br>
            <a:r>
              <a:rPr lang="en-US" sz="1800"/>
              <a:t>Where: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Pulse Width (T_high)</a:t>
            </a:r>
            <a:r>
              <a:rPr lang="en-US" sz="1800"/>
              <a:t>: The duration when the signal is high (</a:t>
            </a:r>
            <a:r>
              <a:rPr b="1" lang="en-US" sz="1800"/>
              <a:t>on</a:t>
            </a:r>
            <a:r>
              <a:rPr lang="en-US" sz="1800"/>
              <a:t>).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Period (T_total)</a:t>
            </a:r>
            <a:r>
              <a:rPr lang="en-US" sz="1800"/>
              <a:t>: The total duration of one PWM cycle.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In STM32</a:t>
            </a:r>
            <a:r>
              <a:rPr lang="en-US" sz="1800"/>
              <a:t>: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Period</a:t>
            </a:r>
            <a:r>
              <a:rPr lang="en-US" sz="1800"/>
              <a:t> is set by the timer's frequency.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▪"/>
            </a:pPr>
            <a:r>
              <a:rPr b="1" lang="en-US" sz="1800"/>
              <a:t>Pulse Width (T_high)</a:t>
            </a:r>
            <a:r>
              <a:rPr lang="en-US" sz="1800"/>
              <a:t> is controlled by the compare register to determine how long the signal stays high.</a:t>
            </a:r>
            <a:endParaRPr sz="26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448649" y="1180575"/>
            <a:ext cx="11454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C00000"/>
                </a:solidFill>
              </a:rPr>
              <a:t>Duty Cycle in PWM and How It Works in STM32</a:t>
            </a:r>
            <a:endParaRPr sz="3000">
              <a:solidFill>
                <a:srgbClr val="C00000"/>
              </a:solidFill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800" y="3392501"/>
            <a:ext cx="4755400" cy="8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448650" y="179350"/>
            <a:ext cx="118347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54371" l="0" r="0" t="0"/>
          <a:stretch/>
        </p:blipFill>
        <p:spPr>
          <a:xfrm>
            <a:off x="5758900" y="1168663"/>
            <a:ext cx="6408525" cy="272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 b="4252" l="0" r="0" t="47640"/>
          <a:stretch/>
        </p:blipFill>
        <p:spPr>
          <a:xfrm>
            <a:off x="5758900" y="3891525"/>
            <a:ext cx="6408525" cy="28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137000" y="1217650"/>
            <a:ext cx="5839500" cy="4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C00000"/>
                </a:solidFill>
              </a:rPr>
              <a:t>How Duty Cycle Affects LED Brightness</a:t>
            </a:r>
            <a:endParaRPr b="1" sz="23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/>
              <a:t>The duty cycle in PWM directly controls the perceived brightness of an LED.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/>
              <a:t>PWM Signal Behavior</a:t>
            </a:r>
            <a:r>
              <a:rPr lang="en-US" sz="1700"/>
              <a:t>: The LED is rapidly switched on and off at a fixed frequency.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Higher Duty Cycle</a:t>
            </a:r>
            <a:r>
              <a:rPr lang="en-US" sz="1700"/>
              <a:t>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/>
              <a:t>When the duty cycle is higher, the LED stays on for a larger portion of each cycle.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/>
              <a:t>As a result, the LED appears brighter because it is "</a:t>
            </a:r>
            <a:r>
              <a:rPr b="1" lang="en-US" sz="1700"/>
              <a:t>on</a:t>
            </a:r>
            <a:r>
              <a:rPr lang="en-US" sz="1700"/>
              <a:t>" for a longer time.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Lower Duty Cycle</a:t>
            </a:r>
            <a:r>
              <a:rPr lang="en-US" sz="1700"/>
              <a:t>: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/>
              <a:t>When the duty cycle is lower, the LED stays on for a shorter period and is </a:t>
            </a:r>
            <a:r>
              <a:rPr b="1" lang="en-US" sz="1700"/>
              <a:t>off </a:t>
            </a:r>
            <a:r>
              <a:rPr lang="en-US" sz="1700"/>
              <a:t>for a longer time.</a:t>
            </a:r>
            <a:endParaRPr sz="17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○"/>
            </a:pPr>
            <a:r>
              <a:rPr lang="en-US" sz="1700"/>
              <a:t>This causes the LED to appear dimmer, as the light output is less frequent.</a:t>
            </a:r>
            <a:endParaRPr sz="27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448649" y="179350"/>
            <a:ext cx="118143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48642" y="1172000"/>
            <a:ext cx="110745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C00000"/>
                </a:solidFill>
              </a:rPr>
              <a:t> Hardware and Software Used</a:t>
            </a:r>
            <a:endParaRPr b="1" sz="3000">
              <a:solidFill>
                <a:srgbClr val="C00000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STM32 Board</a:t>
            </a:r>
            <a:r>
              <a:rPr lang="en-US" sz="1700"/>
              <a:t> (STM32F4 or equivalent)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USB Camera</a:t>
            </a:r>
            <a:r>
              <a:rPr lang="en-US" sz="1700"/>
              <a:t> for visual detection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STM32Cube IDE Development Environment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Web Server</a:t>
            </a:r>
            <a:r>
              <a:rPr lang="en-US" sz="1700"/>
              <a:t> (FastAPI)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Web Interface</a:t>
            </a:r>
            <a:r>
              <a:rPr lang="en-US" sz="1700"/>
              <a:t> developed in HTML/CSS with JavaScript interaction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OpenCV Library</a:t>
            </a:r>
            <a:r>
              <a:rPr lang="en-US" sz="1700"/>
              <a:t> for computer vision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Python</a:t>
            </a:r>
            <a:r>
              <a:rPr lang="en-US" sz="1700"/>
              <a:t> for computer vision processing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MediaPipe Library</a:t>
            </a:r>
            <a:r>
              <a:rPr lang="en-US" sz="1700"/>
              <a:t> for finger detection and tracking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b="1" lang="en-US" sz="1700"/>
              <a:t>Uvicorn</a:t>
            </a:r>
            <a:r>
              <a:rPr lang="en-US" sz="1700"/>
              <a:t> to run the web server asynchronously</a:t>
            </a:r>
            <a:endParaRPr sz="17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14175" y="1127775"/>
            <a:ext cx="7938000" cy="524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C00000"/>
                </a:solidFill>
              </a:rPr>
              <a:t>System Architecture</a:t>
            </a:r>
            <a:endParaRPr b="1" sz="30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Motion Detection:</a:t>
            </a:r>
            <a:endParaRPr b="1" sz="16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A camera analyzes finger movements.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Computer vision detects the opening and closing of fingers.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A value from 0 to 100 is assigned based on finger spacing.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Web Interface:</a:t>
            </a:r>
            <a:endParaRPr b="1" sz="16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A progress bar displays the current brightness value.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The user can adjust the brightness directly through this bar.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Server Communication with STM32:</a:t>
            </a:r>
            <a:endParaRPr b="1" sz="16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The server sends the brightness value (as a signal) to the STM32 board via the UART cable.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STM32 Receiving and Processing the Signal:</a:t>
            </a:r>
            <a:endParaRPr b="1" sz="16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The STM32 board receives the brightness signal via the UART cable.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The received signal is interpreted to determine the PWM duty cycle.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-US" sz="1500"/>
              <a:t>The STM32's PWM timer adjusts the LED intensity based on the interpreted value</a:t>
            </a:r>
            <a:r>
              <a:rPr lang="en-US" sz="1600"/>
              <a:t>.</a:t>
            </a:r>
            <a:endParaRPr sz="2500"/>
          </a:p>
        </p:txBody>
      </p:sp>
      <p:sp>
        <p:nvSpPr>
          <p:cNvPr id="120" name="Google Shape;120;p20"/>
          <p:cNvSpPr txBox="1"/>
          <p:nvPr/>
        </p:nvSpPr>
        <p:spPr>
          <a:xfrm>
            <a:off x="207150" y="234875"/>
            <a:ext cx="1177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000CC"/>
                </a:solidFill>
              </a:rPr>
              <a:t>Gesture-Controlled LED Brightness Using PWM and STM32</a:t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3">
            <a:alphaModFix/>
          </a:blip>
          <a:srcRect b="0" l="46755" r="-6186" t="0"/>
          <a:stretch/>
        </p:blipFill>
        <p:spPr>
          <a:xfrm>
            <a:off x="9224225" y="1224025"/>
            <a:ext cx="2274129" cy="2052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 rotWithShape="1">
          <a:blip r:embed="rId4">
            <a:alphaModFix/>
          </a:blip>
          <a:srcRect b="72932" l="0" r="0" t="0"/>
          <a:stretch/>
        </p:blipFill>
        <p:spPr>
          <a:xfrm>
            <a:off x="8769499" y="3392500"/>
            <a:ext cx="2961126" cy="93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 rotWithShape="1">
          <a:blip r:embed="rId4">
            <a:alphaModFix/>
          </a:blip>
          <a:srcRect b="0" l="7253" r="4718" t="27499"/>
          <a:stretch/>
        </p:blipFill>
        <p:spPr>
          <a:xfrm>
            <a:off x="9228700" y="4645450"/>
            <a:ext cx="2042736" cy="20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448649" y="179350"/>
            <a:ext cx="117435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8200" y="1209050"/>
            <a:ext cx="69777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C00000"/>
                </a:solidFill>
              </a:rPr>
              <a:t>STM32 Utilization and Port Configuration</a:t>
            </a:r>
            <a:endParaRPr b="1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The STM32 board is configured to control the LED through GPIO ports and a PWM timer. Specifically: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-US" sz="1800"/>
              <a:t>PA3 and PA2</a:t>
            </a:r>
            <a:r>
              <a:rPr lang="en-US" sz="1800"/>
              <a:t> are configured for UART communication, enabling data exchange between the STM32 and the server.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-US" sz="1800"/>
              <a:t>PA5</a:t>
            </a:r>
            <a:r>
              <a:rPr lang="en-US" sz="1800"/>
              <a:t> is set as the PWM output pin to drive the LED.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The PWM signal is generated by configuring Timer 2 (TIM2) in the STM32Cube IDE, where the duty cycle adjusts the LED brightness.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The GPIO pins are initialized in the firmware to handle LED output and data reception from the server.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274E13"/>
                </a:solidFill>
              </a:rPr>
              <a:t>The firmware running on the STM32 continuously listens for data transmitted from the server. When a brightness value (0-100) is received, the PWM duty cycle is updated to reflect the desired brightness.</a:t>
            </a:r>
            <a:endParaRPr sz="1800">
              <a:solidFill>
                <a:srgbClr val="274E1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6111" r="10171" t="0"/>
          <a:stretch/>
        </p:blipFill>
        <p:spPr>
          <a:xfrm>
            <a:off x="7368350" y="1536700"/>
            <a:ext cx="4378701" cy="47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448650" y="179350"/>
            <a:ext cx="120180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74200" y="1485025"/>
            <a:ext cx="4771200" cy="522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00000"/>
                </a:solidFill>
              </a:rPr>
              <a:t>Project Development</a:t>
            </a:r>
            <a:endParaRPr b="1" sz="27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/>
              <a:t>STM32 Board Configuration</a:t>
            </a:r>
            <a:endParaRPr b="1" sz="20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/>
              <a:t>Setting up the PWM timer.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/>
              <a:t>Initializing GPIO to connect the LED.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/>
              <a:t>Configuring PA3, PA2, and PA5 ports.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n-US" sz="2100"/>
              <a:t>Programming the firmware to receive data from the server.</a:t>
            </a:r>
            <a:endParaRPr sz="3400"/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400" y="1595000"/>
            <a:ext cx="6974150" cy="380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448650" y="179350"/>
            <a:ext cx="120180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146700" y="1316975"/>
            <a:ext cx="48294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00000"/>
                </a:solidFill>
              </a:rPr>
              <a:t>Project Development</a:t>
            </a:r>
            <a:endParaRPr b="1" sz="27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/>
              <a:t>Computer Vision Development</a:t>
            </a:r>
            <a:endParaRPr b="1" sz="22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Using </a:t>
            </a:r>
            <a:r>
              <a:rPr b="1" lang="en-US" sz="1800"/>
              <a:t>Python </a:t>
            </a:r>
            <a:r>
              <a:rPr lang="en-US" sz="1800"/>
              <a:t>and </a:t>
            </a:r>
            <a:r>
              <a:rPr b="1" lang="en-US" sz="1800"/>
              <a:t>OpenCV </a:t>
            </a:r>
            <a:r>
              <a:rPr lang="en-US" sz="1800"/>
              <a:t>to detect finger movements.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Implementing </a:t>
            </a:r>
            <a:r>
              <a:rPr b="1" lang="en-US" sz="1800"/>
              <a:t>MediaPipe </a:t>
            </a:r>
            <a:r>
              <a:rPr lang="en-US" sz="1800"/>
              <a:t>for accurate finger tracking and detection.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Converting detection data into brightness values.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Running the computer vision process with </a:t>
            </a:r>
            <a:r>
              <a:rPr b="1" lang="en-US" sz="1800"/>
              <a:t>Uvicorn </a:t>
            </a:r>
            <a:r>
              <a:rPr lang="en-US" sz="1800"/>
              <a:t>for asynchronous communication.</a:t>
            </a:r>
            <a:endParaRPr sz="3100"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475" y="1409025"/>
            <a:ext cx="6592125" cy="4957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448650" y="179350"/>
            <a:ext cx="120180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190200" y="1426175"/>
            <a:ext cx="54384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00000"/>
                </a:solidFill>
              </a:rPr>
              <a:t>Project Development</a:t>
            </a:r>
            <a:endParaRPr b="1" sz="27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/>
              <a:t> Web Interface Creation</a:t>
            </a:r>
            <a:endParaRPr b="1" sz="22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/>
              <a:t>Developing a simple interface with a progress bar.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/>
              <a:t>Linking the interface to the server to send data to STM32.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/>
              <a:t>Implementing </a:t>
            </a:r>
            <a:r>
              <a:rPr lang="en-US"/>
              <a:t>Unicorn</a:t>
            </a:r>
            <a:r>
              <a:rPr lang="en-US"/>
              <a:t> to handle server requests efficiently.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6025" y="1293688"/>
            <a:ext cx="5791125" cy="5217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558742" y="1070525"/>
            <a:ext cx="110745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C00000"/>
                </a:solidFill>
              </a:rPr>
              <a:t>Final Project Workflow</a:t>
            </a:r>
            <a:endParaRPr b="1" sz="2700">
              <a:solidFill>
                <a:srgbClr val="C00000"/>
              </a:solidFill>
            </a:endParaRPr>
          </a:p>
        </p:txBody>
      </p:sp>
      <p:sp>
        <p:nvSpPr>
          <p:cNvPr id="162" name="Google Shape;162;p25"/>
          <p:cNvSpPr txBox="1"/>
          <p:nvPr>
            <p:ph type="title"/>
          </p:nvPr>
        </p:nvSpPr>
        <p:spPr>
          <a:xfrm>
            <a:off x="448650" y="179350"/>
            <a:ext cx="120180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375" y="1640675"/>
            <a:ext cx="10571075" cy="515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448649" y="179350"/>
            <a:ext cx="11642100" cy="685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Gesture-Controlled LED Brightness Using PWM and STM32</a:t>
            </a:r>
            <a:endParaRPr/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465677" y="1143000"/>
            <a:ext cx="60183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rgbClr val="C00000"/>
                </a:solidFill>
              </a:rPr>
              <a:t>Conclusion </a:t>
            </a:r>
            <a:r>
              <a:rPr b="1" lang="en-US" sz="2000">
                <a:solidFill>
                  <a:srgbClr val="C00000"/>
                </a:solidFill>
              </a:rPr>
              <a:t>:</a:t>
            </a:r>
            <a:endParaRPr b="1" sz="2000">
              <a:solidFill>
                <a:srgbClr val="C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This project illustrates the integration of multiple technologies </a:t>
            </a:r>
            <a:r>
              <a:rPr b="1" lang="en-US" sz="1800"/>
              <a:t>(STM32, PWM, computer vision, Python, and web)</a:t>
            </a:r>
            <a:r>
              <a:rPr lang="en-US" sz="1800"/>
              <a:t> to create an interactive LED control system. The use of the </a:t>
            </a:r>
            <a:r>
              <a:rPr b="1" lang="en-US" sz="1800"/>
              <a:t>STM32 microcontroller</a:t>
            </a:r>
            <a:r>
              <a:rPr lang="en-US" sz="1800"/>
              <a:t> is essential due to its flexibility, cost-effectiveness, and powerful peripherals, making it ideal for real-time embedded applications. STM32’s efficient PWM control and </a:t>
            </a:r>
            <a:r>
              <a:rPr b="1" lang="en-US" sz="1800"/>
              <a:t>UART </a:t>
            </a:r>
            <a:r>
              <a:rPr lang="en-US" sz="1800"/>
              <a:t>communication capabilities facilitate seamless interaction between hardware and software, enhancing the overall performance and accuracy of the system.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C00000"/>
                </a:solidFill>
              </a:rPr>
              <a:t>Source code:</a:t>
            </a:r>
            <a:r>
              <a:rPr lang="en-US" sz="2300">
                <a:solidFill>
                  <a:srgbClr val="C00000"/>
                </a:solidFill>
              </a:rPr>
              <a:t> </a:t>
            </a:r>
            <a:r>
              <a:rPr lang="en-US" sz="1700" u="sng">
                <a:solidFill>
                  <a:srgbClr val="0033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https://github.com/Mahdyy02/khedmet-el-mrammeji</a:t>
            </a:r>
            <a:endParaRPr sz="1700">
              <a:solidFill>
                <a:srgbClr val="0033CC"/>
              </a:solidFill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527" y="1881188"/>
            <a:ext cx="485775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_720_540_43_18">
  <a:themeElements>
    <a:clrScheme name="ST_720_540_43_18 1">
      <a:dk1>
        <a:srgbClr val="000000"/>
      </a:dk1>
      <a:lt1>
        <a:srgbClr val="FFFFFF"/>
      </a:lt1>
      <a:dk2>
        <a:srgbClr val="00528E"/>
      </a:dk2>
      <a:lt2>
        <a:srgbClr val="CECFD0"/>
      </a:lt2>
      <a:accent1>
        <a:srgbClr val="8799C1"/>
      </a:accent1>
      <a:accent2>
        <a:srgbClr val="FBB034"/>
      </a:accent2>
      <a:accent3>
        <a:srgbClr val="FFFFFF"/>
      </a:accent3>
      <a:accent4>
        <a:srgbClr val="000000"/>
      </a:accent4>
      <a:accent5>
        <a:srgbClr val="C3CADD"/>
      </a:accent5>
      <a:accent6>
        <a:srgbClr val="E39F2E"/>
      </a:accent6>
      <a:hlink>
        <a:srgbClr val="F3D89D"/>
      </a:hlink>
      <a:folHlink>
        <a:srgbClr val="0089C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